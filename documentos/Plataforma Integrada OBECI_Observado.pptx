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Play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5X8hWXAQYxaOqS9CkX9SsizKo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1 – Tela de abertura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Manter só a foto, tirar o login.</a:t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pt-BR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Problema – colocar no slide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pt-BR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Frisar no slide.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pt-BR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Atualmente as escolas vinculadas ao Instituto Obeci, </a:t>
            </a:r>
            <a:r>
              <a:rPr lang="pt-BR"/>
              <a:t>na aplicação de seu processo documental, </a:t>
            </a:r>
            <a:r>
              <a:rPr b="0" i="0" lang="pt-BR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operam em um ecossistema digital fragmentado, utilizando ferramentas generalistas como Google Suite, Canva e Miro para gerir processos </a:t>
            </a:r>
            <a:r>
              <a:rPr lang="pt-BR"/>
              <a:t>fundamentais</a:t>
            </a:r>
            <a:r>
              <a:rPr b="0" i="0" lang="pt-BR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pt-BR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gera dois problemas sistêmicos: </a:t>
            </a:r>
            <a:r>
              <a:rPr b="1" i="0" lang="pt-BR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ineficiência operacional</a:t>
            </a:r>
            <a:r>
              <a:rPr b="0" i="0" lang="pt-BR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risco de conformidade</a:t>
            </a:r>
            <a:r>
              <a:rPr b="0" i="0" lang="pt-BR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pt-BR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Dados sensíveis e imagens de </a:t>
            </a:r>
            <a:r>
              <a:rPr lang="pt-BR"/>
              <a:t>crianças</a:t>
            </a:r>
            <a:r>
              <a:rPr b="0" i="0" lang="pt-BR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circulam em plataformas sem controle centralizado, gerando vulnerabilidades jurídicas em relação à privacidade. 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pt-BR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Plataforma Integrada OBECI que desenvolvemos surge para consolidar essa documentação em um ambiente único e seguro.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pt-BR"/>
            </a:b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pt-BR" sz="14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– Solução – colocar no slide</a:t>
            </a:r>
            <a:endParaRPr b="0"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400"/>
              <a:t>Trata-se de</a:t>
            </a:r>
            <a:r>
              <a:rPr b="0" i="0" lang="pt-BR" sz="14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solução web-based autocontida projetada para centralizar o planejamento e a comunicação pedagógica.</a:t>
            </a:r>
            <a:endParaRPr b="0"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pt-BR" sz="14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ambiente de backend robusto que permite a criação de 'Processos Documentais' como contêineres estruturados de dados.</a:t>
            </a:r>
            <a:endParaRPr b="0"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pt-BR" sz="14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Enquanto as ferramentas atuais são depósitos de arquivos, a Plataforma Integrada OBECI é um gerador de conhecimento. </a:t>
            </a:r>
            <a:endParaRPr b="1"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pt-BR" sz="14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não apenas armazena fotos e textos, mas estrutura o "Processo Documental" (refletir, projetar, registrar e avaliar) em um contêiner digital inteligente.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latin typeface="Arial"/>
                <a:ea typeface="Arial"/>
                <a:cs typeface="Arial"/>
                <a:sym typeface="Arial"/>
              </a:rPr>
              <a:t>Estamos substituindo ferramentas genéricas por uma solução que entende a alma da educação infantil no Instituto OBECI.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pt-BR"/>
            </a:br>
            <a:endParaRPr/>
          </a:p>
        </p:txBody>
      </p:sp>
      <p:sp>
        <p:nvSpPr>
          <p:cNvPr id="114" name="Google Shape;11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/>
              <a:t>Temos aqui uma jornada fluida para o usuário, sustentada por uma arquitetura de dados preparada para escala e conformidade total.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Ancorar a fala com o slide.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Nossa infraestrutura é altamente escalável, preparada para suportar o crescimento do volume de mídia e usuários sem afetar performance.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Estrutura que mapeia fielmente a prática pedagógica de forma relacional. Cada Professor é vinculado às suas Turmas, garantindo integridade em cada registro pedagógico.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Quando um professor insere uma mídia, ela é tratada como um objeto único vinculado ao processo documental daquela turma. Isso permite que a supervisão e colaboração seja prática e eficiente, filtrando por tags e instrumentos.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 Interface é otimizada para computadores e notebooks, essencial para as tarefas complexas de edição, planejamento e gestão.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/>
              <a:t>O sistema garante o onboarding de novas escolas sem comprometer a integridade do sistema, e, de acordo com a demanda da OBECI, possibilita que múltiplos usuários possam editar o mesmo documento simultaneamente.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 plataforma foi desenvolvida alinhada às diretrizes de acessibilidade.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E não necessita instalação local; requer apenas conexão à internet e habilidades básicas de informática, pois é baseado na Web.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/>
              <a:t>Filtros por tags e por tipos de instrumentos garantem a agilidade na busca por conteúdos, o que é impossível de fazer de forma rápida e prática no Google Slides.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E em um setor que lida com menores, a segurança deve ser fundamental.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O sistema opera com um sistema de acesso rigoroso. Todos os dados são criptografados em trânsito via TLS/HTTPS e em repouso.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E tudo em conformidade com a Lei Geral de Proteção de Dados, com foco especial no tratamento de dados sensíveis e de menores.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Garantimos um uptime superior a 99.5%, essencial para a consistência dos registros pedagógicos.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Além disso, o projeto possui uma base de governança sólida, com Propriedade Intelectual compartilhada entre instituições de prestígio como BRISA e UNISINOS.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Estamos substituindo ferramentas genéricas por uma plataforma que soluciona o problema da OBECI, com alto valor agregado.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425a62f6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425a62f6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Explicar o vídeo.</a:t>
            </a:r>
            <a:endParaRPr/>
          </a:p>
        </p:txBody>
      </p:sp>
      <p:sp>
        <p:nvSpPr>
          <p:cNvPr id="180" name="Google Shape;180;g3c425a62f6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4373e66a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c4373e66a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Vamos escalar a inteligência pedagógica juntos?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Obrigado!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c4373e66a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7"/>
          <p:cNvSpPr txBox="1"/>
          <p:nvPr>
            <p:ph idx="11" type="ftr"/>
          </p:nvPr>
        </p:nvSpPr>
        <p:spPr>
          <a:xfrm>
            <a:off x="6888623" y="9687816"/>
            <a:ext cx="2043780" cy="181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 b="0" l="8890" r="7370" t="0"/>
          <a:stretch/>
        </p:blipFill>
        <p:spPr>
          <a:xfrm>
            <a:off x="1522800" y="5860077"/>
            <a:ext cx="6337125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O conteúdo gerado por IA pode estar incorreto." id="20" name="Google Shape;20;p7"/>
          <p:cNvPicPr preferRelativeResize="0"/>
          <p:nvPr/>
        </p:nvPicPr>
        <p:blipFill rotWithShape="1">
          <a:blip r:embed="rId3">
            <a:alphaModFix/>
          </a:blip>
          <a:srcRect b="0" l="3350" r="5798" t="0"/>
          <a:stretch/>
        </p:blipFill>
        <p:spPr>
          <a:xfrm>
            <a:off x="7966512" y="5860077"/>
            <a:ext cx="2701488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O conteúdo gerado por IA pode estar incorreto." id="21" name="Google Shape;21;p7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3402735" y="183550"/>
            <a:ext cx="4959251" cy="59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1" name="Google Shape;3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6D8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8.png"/><Relationship Id="rId7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jxGrIkmhdndw-ghZCsvq950-t4HoZO0w/view" TargetMode="External"/><Relationship Id="rId4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ctrTitle"/>
          </p:nvPr>
        </p:nvSpPr>
        <p:spPr>
          <a:xfrm>
            <a:off x="495892" y="1180762"/>
            <a:ext cx="6024769" cy="644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5721"/>
              </a:buClr>
              <a:buSzPts val="3200"/>
              <a:buFont typeface="Arial"/>
              <a:buNone/>
            </a:pPr>
            <a:r>
              <a:rPr b="1" lang="pt-BR" sz="3200">
                <a:solidFill>
                  <a:srgbClr val="CF5721"/>
                </a:solidFill>
              </a:rPr>
              <a:t>Plataforma Integrada OBECI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495893" y="3296297"/>
            <a:ext cx="5051467" cy="1277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Luan Zumacke</a:t>
            </a:r>
            <a:endParaRPr b="0" i="0" sz="1600" u="none" cap="none" strike="noStrike">
              <a:solidFill>
                <a:srgbClr val="1C3C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Lucas Schlupp</a:t>
            </a:r>
            <a:endParaRPr b="0" i="0" sz="1600" u="none" cap="none" strike="noStrike">
              <a:solidFill>
                <a:srgbClr val="1C3C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Manuella Pinheiro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Rosana Meyer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Sandro Santos Jr.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95891" y="5390067"/>
            <a:ext cx="60960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CF5721"/>
                </a:solidFill>
                <a:latin typeface="Arial"/>
                <a:ea typeface="Arial"/>
                <a:cs typeface="Arial"/>
                <a:sym typeface="Arial"/>
              </a:rPr>
              <a:t>Orientação: Prof.ª Ma. Izabel Cristina da Rosa dos Santos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95891" y="1749172"/>
            <a:ext cx="6024769" cy="644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572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CF5721"/>
                </a:solidFill>
                <a:latin typeface="Arial"/>
                <a:ea typeface="Arial"/>
                <a:cs typeface="Arial"/>
                <a:sym typeface="Arial"/>
              </a:rPr>
              <a:t>Inovação no Planejamento para 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572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CF5721"/>
                </a:solidFill>
                <a:latin typeface="Arial"/>
                <a:ea typeface="Arial"/>
                <a:cs typeface="Arial"/>
                <a:sym typeface="Arial"/>
              </a:rPr>
              <a:t>Educação Infantil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face gráfica do usuário&#10;&#10;O conteúdo gerado por IA pode estar incorreto." id="94" name="Google Shape;94;p1"/>
          <p:cNvPicPr preferRelativeResize="0"/>
          <p:nvPr/>
        </p:nvPicPr>
        <p:blipFill rotWithShape="1">
          <a:blip r:embed="rId3">
            <a:alphaModFix/>
          </a:blip>
          <a:srcRect b="3288" l="1844" r="2635" t="3020"/>
          <a:stretch/>
        </p:blipFill>
        <p:spPr>
          <a:xfrm>
            <a:off x="6096000" y="1167958"/>
            <a:ext cx="5600107" cy="342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838200" y="557188"/>
            <a:ext cx="10515600" cy="1133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C5C"/>
              </a:buClr>
              <a:buSzPts val="5200"/>
              <a:buFont typeface="Arial"/>
              <a:buNone/>
            </a:pPr>
            <a:r>
              <a:rPr b="1" lang="pt-BR" sz="5200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A "Colcha de Retalhos" Digital</a:t>
            </a:r>
            <a:endParaRPr/>
          </a:p>
        </p:txBody>
      </p:sp>
      <p:grpSp>
        <p:nvGrpSpPr>
          <p:cNvPr id="101" name="Google Shape;101;p2"/>
          <p:cNvGrpSpPr/>
          <p:nvPr/>
        </p:nvGrpSpPr>
        <p:grpSpPr>
          <a:xfrm>
            <a:off x="1256171" y="2321995"/>
            <a:ext cx="9679657" cy="3366153"/>
            <a:chOff x="417971" y="493195"/>
            <a:chExt cx="9679657" cy="3366153"/>
          </a:xfrm>
        </p:grpSpPr>
        <p:sp>
          <p:nvSpPr>
            <p:cNvPr id="102" name="Google Shape;102;p2"/>
            <p:cNvSpPr/>
            <p:nvPr/>
          </p:nvSpPr>
          <p:spPr>
            <a:xfrm>
              <a:off x="1142694" y="493195"/>
              <a:ext cx="1440003" cy="130025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417971" y="2298411"/>
              <a:ext cx="2889450" cy="1560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417971" y="2298411"/>
              <a:ext cx="2889450" cy="1560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3C5C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1C3C5C"/>
                  </a:solidFill>
                  <a:latin typeface="Arial"/>
                  <a:ea typeface="Arial"/>
                  <a:cs typeface="Arial"/>
                  <a:sym typeface="Arial"/>
                </a:rPr>
                <a:t>O Cenário Atual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630"/>
                </a:spcBef>
                <a:spcAft>
                  <a:spcPts val="0"/>
                </a:spcAft>
                <a:buClr>
                  <a:srgbClr val="1C3C5C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1C3C5C"/>
                  </a:solidFill>
                  <a:latin typeface="Arial"/>
                  <a:ea typeface="Arial"/>
                  <a:cs typeface="Arial"/>
                  <a:sym typeface="Arial"/>
                </a:rPr>
                <a:t>Hoje, a documentação pedagógica é fragmentada. Professores saltam entre Google Slides, Canva, Miro e redes sociais.</a:t>
              </a:r>
              <a:endParaRPr b="0" i="0" sz="1800" u="none" cap="none" strike="noStrike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4537798" y="493195"/>
              <a:ext cx="1440003" cy="130025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813075" y="2298411"/>
              <a:ext cx="2889450" cy="1560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3813075" y="2298411"/>
              <a:ext cx="2889450" cy="1560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3C5C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1C3C5C"/>
                  </a:solidFill>
                  <a:latin typeface="Arial"/>
                  <a:ea typeface="Arial"/>
                  <a:cs typeface="Arial"/>
                  <a:sym typeface="Arial"/>
                </a:rPr>
                <a:t>A Ineficiência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630"/>
                </a:spcBef>
                <a:spcAft>
                  <a:spcPts val="0"/>
                </a:spcAft>
                <a:buClr>
                  <a:srgbClr val="1C3C5C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1C3C5C"/>
                  </a:solidFill>
                  <a:latin typeface="Arial"/>
                  <a:ea typeface="Arial"/>
                  <a:cs typeface="Arial"/>
                  <a:sym typeface="Arial"/>
                </a:rPr>
                <a:t>Essa descentralização gera perda de tempo e processos desestruturados.</a:t>
              </a:r>
              <a:endParaRPr b="0" i="0" sz="1800" u="none" cap="none" strike="noStrike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7932901" y="493195"/>
              <a:ext cx="1440003" cy="130025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7208178" y="2298411"/>
              <a:ext cx="2889450" cy="1560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7208178" y="2298411"/>
              <a:ext cx="2889450" cy="1560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3C5C"/>
                </a:buClr>
                <a:buSzPts val="1600"/>
                <a:buFont typeface="Arial"/>
                <a:buNone/>
              </a:pPr>
              <a:r>
                <a:rPr b="1" i="0" lang="pt-BR" sz="1600" u="none" cap="none" strike="noStrike">
                  <a:solidFill>
                    <a:srgbClr val="1C3C5C"/>
                  </a:solidFill>
                  <a:latin typeface="Arial"/>
                  <a:ea typeface="Arial"/>
                  <a:cs typeface="Arial"/>
                  <a:sym typeface="Arial"/>
                </a:rPr>
                <a:t>O Risco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1C3C5C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1C3C5C"/>
                  </a:solidFill>
                  <a:latin typeface="Arial"/>
                  <a:ea typeface="Arial"/>
                  <a:cs typeface="Arial"/>
                  <a:sym typeface="Arial"/>
                </a:rPr>
                <a:t>O uso de redes sociais para compartilhar o cotidiano escolar traz graves preocupações com a privacidade e o uso de imagens de menores.</a:t>
              </a:r>
              <a:endParaRPr b="0" i="0" sz="1800" u="none" cap="none" strike="noStrike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841248" y="256032"/>
            <a:ext cx="10506456" cy="10149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C5C"/>
              </a:buClr>
              <a:buSzPts val="3100"/>
              <a:buFont typeface="Arial"/>
              <a:buNone/>
            </a:pPr>
            <a:br>
              <a:rPr b="1" lang="pt-BR" sz="3100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3100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Plataforma Integrada OBECI – Um Ecossistema Único</a:t>
            </a:r>
            <a:endParaRPr/>
          </a:p>
        </p:txBody>
      </p:sp>
      <p:grpSp>
        <p:nvGrpSpPr>
          <p:cNvPr id="117" name="Google Shape;117;p3"/>
          <p:cNvGrpSpPr/>
          <p:nvPr/>
        </p:nvGrpSpPr>
        <p:grpSpPr>
          <a:xfrm>
            <a:off x="838200" y="1928074"/>
            <a:ext cx="10515600" cy="4353906"/>
            <a:chOff x="0" y="1808"/>
            <a:chExt cx="10515600" cy="4353906"/>
          </a:xfrm>
        </p:grpSpPr>
        <p:sp>
          <p:nvSpPr>
            <p:cNvPr id="118" name="Google Shape;118;p3"/>
            <p:cNvSpPr/>
            <p:nvPr/>
          </p:nvSpPr>
          <p:spPr>
            <a:xfrm>
              <a:off x="0" y="1808"/>
              <a:ext cx="10515600" cy="916611"/>
            </a:xfrm>
            <a:prstGeom prst="roundRect">
              <a:avLst>
                <a:gd fmla="val 10000" name="adj"/>
              </a:avLst>
            </a:prstGeom>
            <a:solidFill>
              <a:srgbClr val="CF57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277275" y="208046"/>
              <a:ext cx="504136" cy="50413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1058686" y="1808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1058686" y="1808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000" lIns="97000" spcFirstLastPara="1" rIns="97000" wrap="square" tIns="9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b="1" i="0" lang="pt-B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 que é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b="0" i="0" lang="pt-B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Um ambiente digital único, seguro e integrado, desenhado especificamente para a filosofia do Observatório da Cultura Infantil (OBECI).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0" y="1147573"/>
              <a:ext cx="10515600" cy="916611"/>
            </a:xfrm>
            <a:prstGeom prst="roundRect">
              <a:avLst>
                <a:gd fmla="val 10000" name="adj"/>
              </a:avLst>
            </a:prstGeom>
            <a:solidFill>
              <a:srgbClr val="CF57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277275" y="1353811"/>
              <a:ext cx="504136" cy="50413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1058686" y="1147573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"/>
            <p:cNvSpPr txBox="1"/>
            <p:nvPr/>
          </p:nvSpPr>
          <p:spPr>
            <a:xfrm>
              <a:off x="1058686" y="1147573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000" lIns="97000" spcFirstLastPara="1" rIns="97000" wrap="square" tIns="9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b="1" i="0" lang="pt-B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Propósito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b="0" i="0" lang="pt-B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Centralizar o planejamento pedagógico e a comunicação do cotidiano em uma ferramenta centrada na criança.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0" y="2293338"/>
              <a:ext cx="10515600" cy="916611"/>
            </a:xfrm>
            <a:prstGeom prst="roundRect">
              <a:avLst>
                <a:gd fmla="val 10000" name="adj"/>
              </a:avLst>
            </a:prstGeom>
            <a:solidFill>
              <a:srgbClr val="CF57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277275" y="2499576"/>
              <a:ext cx="504136" cy="50413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1058686" y="2293338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"/>
            <p:cNvSpPr txBox="1"/>
            <p:nvPr/>
          </p:nvSpPr>
          <p:spPr>
            <a:xfrm>
              <a:off x="1058686" y="2293338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000" lIns="97000" spcFirstLastPara="1" rIns="97000" wrap="square" tIns="9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b="1" i="0" lang="pt-B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Infraestrutura Robusta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b="0" i="0" lang="pt-B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Backend em Java (Spring Boot) e Frontend em React, com banco PostgreSQL.</a:t>
              </a:r>
              <a:endPara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0" y="3439103"/>
              <a:ext cx="10515600" cy="916611"/>
            </a:xfrm>
            <a:prstGeom prst="roundRect">
              <a:avLst>
                <a:gd fmla="val 10000" name="adj"/>
              </a:avLst>
            </a:prstGeom>
            <a:solidFill>
              <a:srgbClr val="CF57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277275" y="3645341"/>
              <a:ext cx="504136" cy="50413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1058686" y="3439103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3"/>
            <p:cNvSpPr txBox="1"/>
            <p:nvPr/>
          </p:nvSpPr>
          <p:spPr>
            <a:xfrm>
              <a:off x="1058686" y="3439103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000" lIns="97000" spcFirstLastPara="1" rIns="97000" wrap="square" tIns="9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b="1" i="0" lang="pt-B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Diferencial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Arial"/>
                <a:buNone/>
              </a:pPr>
              <a:r>
                <a:rPr b="0" i="0" lang="pt-B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Não é apenas um software de gestão; é uma ferramenta que potencializa a documentação pedagógica.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3400">
        <p14:reveal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6D8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rgbClr val="ECE6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>
            <p:ph type="title"/>
          </p:nvPr>
        </p:nvSpPr>
        <p:spPr>
          <a:xfrm>
            <a:off x="838200" y="557189"/>
            <a:ext cx="3374136" cy="5567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C5C"/>
              </a:buClr>
              <a:buSzPts val="3600"/>
              <a:buFont typeface="Arial"/>
              <a:buNone/>
            </a:pPr>
            <a:r>
              <a:rPr b="1" lang="pt-BR" sz="3600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Experiência do Usuário e Escalabilidade</a:t>
            </a:r>
            <a:endParaRPr/>
          </a:p>
        </p:txBody>
      </p:sp>
      <p:grpSp>
        <p:nvGrpSpPr>
          <p:cNvPr id="141" name="Google Shape;141;p4"/>
          <p:cNvGrpSpPr/>
          <p:nvPr/>
        </p:nvGrpSpPr>
        <p:grpSpPr>
          <a:xfrm>
            <a:off x="5093208" y="624353"/>
            <a:ext cx="6263640" cy="5496764"/>
            <a:chOff x="0" y="3961"/>
            <a:chExt cx="6263640" cy="5496764"/>
          </a:xfrm>
        </p:grpSpPr>
        <p:sp>
          <p:nvSpPr>
            <p:cNvPr id="142" name="Google Shape;142;p4"/>
            <p:cNvSpPr/>
            <p:nvPr/>
          </p:nvSpPr>
          <p:spPr>
            <a:xfrm>
              <a:off x="0" y="3961"/>
              <a:ext cx="6263640" cy="849893"/>
            </a:xfrm>
            <a:prstGeom prst="roundRect">
              <a:avLst>
                <a:gd fmla="val 10000" name="adj"/>
              </a:avLst>
            </a:prstGeom>
            <a:solidFill>
              <a:srgbClr val="E97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257092" y="195188"/>
              <a:ext cx="467441" cy="46744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981627" y="3961"/>
              <a:ext cx="5282012" cy="8498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981627" y="3961"/>
              <a:ext cx="5282012" cy="8498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925" lIns="89925" spcFirstLastPara="1" rIns="89925" wrap="square" tIns="89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0" i="0" lang="pt-BR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Hierarquia de Dados Escalável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0" y="1066329"/>
              <a:ext cx="6263640" cy="849893"/>
            </a:xfrm>
            <a:prstGeom prst="roundRect">
              <a:avLst>
                <a:gd fmla="val 10000" name="adj"/>
              </a:avLst>
            </a:prstGeom>
            <a:solidFill>
              <a:srgbClr val="176B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257092" y="1257555"/>
              <a:ext cx="467441" cy="46744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981627" y="1066329"/>
              <a:ext cx="5282012" cy="8498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981627" y="1066329"/>
              <a:ext cx="5282012" cy="8498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925" lIns="89925" spcFirstLastPara="1" rIns="89925" wrap="square" tIns="89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0" i="0" lang="pt-BR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Interfaces Otimizadas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0" y="2128696"/>
              <a:ext cx="6263640" cy="849893"/>
            </a:xfrm>
            <a:prstGeom prst="roundRect">
              <a:avLst>
                <a:gd fmla="val 10000" name="adj"/>
              </a:avLst>
            </a:prstGeom>
            <a:solidFill>
              <a:srgbClr val="0C9E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257092" y="2319922"/>
              <a:ext cx="467441" cy="46744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981627" y="2128696"/>
              <a:ext cx="5282012" cy="8498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4"/>
            <p:cNvSpPr txBox="1"/>
            <p:nvPr/>
          </p:nvSpPr>
          <p:spPr>
            <a:xfrm>
              <a:off x="981627" y="2128696"/>
              <a:ext cx="5282012" cy="8498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925" lIns="89925" spcFirstLastPara="1" rIns="89925" wrap="square" tIns="89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0" i="0" lang="pt-BR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Arquitetura Multi-Tenant</a:t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0" y="3191063"/>
              <a:ext cx="6263640" cy="849893"/>
            </a:xfrm>
            <a:prstGeom prst="roundRect">
              <a:avLst>
                <a:gd fmla="val 10000" name="adj"/>
              </a:avLst>
            </a:prstGeom>
            <a:solidFill>
              <a:srgbClr val="A028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257092" y="3382289"/>
              <a:ext cx="467441" cy="467441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981627" y="3191063"/>
              <a:ext cx="5282012" cy="8498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4"/>
            <p:cNvSpPr txBox="1"/>
            <p:nvPr/>
          </p:nvSpPr>
          <p:spPr>
            <a:xfrm>
              <a:off x="981627" y="3191063"/>
              <a:ext cx="5282012" cy="8498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925" lIns="89925" spcFirstLastPara="1" rIns="89925" wrap="square" tIns="89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0" i="0" lang="pt-BR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Acessibilidade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0" y="4253430"/>
              <a:ext cx="6263640" cy="1247295"/>
            </a:xfrm>
            <a:prstGeom prst="roundRect">
              <a:avLst>
                <a:gd fmla="val 10000" name="adj"/>
              </a:avLst>
            </a:prstGeom>
            <a:solidFill>
              <a:srgbClr val="4EA6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257092" y="4643357"/>
              <a:ext cx="467441" cy="46744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981627" y="4452131"/>
              <a:ext cx="5282012" cy="8498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4"/>
            <p:cNvSpPr txBox="1"/>
            <p:nvPr/>
          </p:nvSpPr>
          <p:spPr>
            <a:xfrm>
              <a:off x="981627" y="4452131"/>
              <a:ext cx="5282012" cy="8498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925" lIns="89925" spcFirstLastPara="1" rIns="89925" wrap="square" tIns="89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0" i="0" lang="pt-BR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Simplicidade Operacional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/>
          <p:nvPr>
            <p:ph type="title"/>
          </p:nvPr>
        </p:nvSpPr>
        <p:spPr>
          <a:xfrm>
            <a:off x="841248" y="334644"/>
            <a:ext cx="10509504" cy="1076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C5C"/>
              </a:buClr>
              <a:buSzPts val="4000"/>
              <a:buFont typeface="Arial"/>
              <a:buNone/>
            </a:pPr>
            <a:r>
              <a:rPr b="1" lang="pt-BR" sz="4000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Segurança e Produtividade</a:t>
            </a:r>
            <a:endParaRPr/>
          </a:p>
        </p:txBody>
      </p:sp>
      <p:grpSp>
        <p:nvGrpSpPr>
          <p:cNvPr id="168" name="Google Shape;168;p5"/>
          <p:cNvGrpSpPr/>
          <p:nvPr/>
        </p:nvGrpSpPr>
        <p:grpSpPr>
          <a:xfrm>
            <a:off x="838200" y="1754081"/>
            <a:ext cx="10506456" cy="4501981"/>
            <a:chOff x="0" y="16721"/>
            <a:chExt cx="10506456" cy="4501981"/>
          </a:xfrm>
        </p:grpSpPr>
        <p:sp>
          <p:nvSpPr>
            <p:cNvPr id="169" name="Google Shape;169;p5"/>
            <p:cNvSpPr/>
            <p:nvPr/>
          </p:nvSpPr>
          <p:spPr>
            <a:xfrm>
              <a:off x="0" y="16721"/>
              <a:ext cx="10506456" cy="868140"/>
            </a:xfrm>
            <a:prstGeom prst="roundRect">
              <a:avLst>
                <a:gd fmla="val 16667" name="adj"/>
              </a:avLst>
            </a:prstGeom>
            <a:solidFill>
              <a:srgbClr val="CF5721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5"/>
            <p:cNvSpPr txBox="1"/>
            <p:nvPr/>
          </p:nvSpPr>
          <p:spPr>
            <a:xfrm>
              <a:off x="42379" y="59100"/>
              <a:ext cx="10421698" cy="7833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Busca Inteligente e Organização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Localização instantânea de qualquer registro através de </a:t>
              </a:r>
              <a:r>
                <a:rPr b="1" i="0" lang="pt-BR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filtros combinados por tipo de instrumento pedagógico e tags customizáveis</a:t>
              </a:r>
              <a:r>
                <a:rPr b="0" i="0" lang="pt-BR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0" y="925181"/>
              <a:ext cx="10506456" cy="868140"/>
            </a:xfrm>
            <a:prstGeom prst="roundRect">
              <a:avLst>
                <a:gd fmla="val 16667" name="adj"/>
              </a:avLst>
            </a:prstGeom>
            <a:solidFill>
              <a:srgbClr val="DB842F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5"/>
            <p:cNvSpPr txBox="1"/>
            <p:nvPr/>
          </p:nvSpPr>
          <p:spPr>
            <a:xfrm>
              <a:off x="42379" y="967560"/>
              <a:ext cx="10421698" cy="7833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Eficiência Operacional</a:t>
              </a:r>
              <a:r>
                <a:rPr b="0" i="0" lang="pt-BR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Redução drástica do tempo de documentação ao substituir ferramentas genéricas por um fluxo automatizado e colaborativo.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0" y="2742102"/>
              <a:ext cx="10506456" cy="868140"/>
            </a:xfrm>
            <a:prstGeom prst="roundRect">
              <a:avLst>
                <a:gd fmla="val 16667" name="adj"/>
              </a:avLst>
            </a:prstGeom>
            <a:solidFill>
              <a:srgbClr val="215F70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5"/>
            <p:cNvSpPr txBox="1"/>
            <p:nvPr/>
          </p:nvSpPr>
          <p:spPr>
            <a:xfrm>
              <a:off x="42379" y="2784481"/>
              <a:ext cx="10421700" cy="78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Segurança de Dados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Acesso restrito e criptografia total (em trânsito e em repouso).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0" y="3650562"/>
              <a:ext cx="10506456" cy="868140"/>
            </a:xfrm>
            <a:prstGeom prst="roundRect">
              <a:avLst>
                <a:gd fmla="val 16667" name="adj"/>
              </a:avLst>
            </a:prstGeom>
            <a:solidFill>
              <a:srgbClr val="35929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5"/>
            <p:cNvSpPr txBox="1"/>
            <p:nvPr/>
          </p:nvSpPr>
          <p:spPr>
            <a:xfrm>
              <a:off x="42379" y="3692941"/>
              <a:ext cx="10421700" cy="78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1" i="0" lang="pt-BR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Alta Disponibilidade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Garantia de 99,5% de uptime, protegendo registros pedagógicos que são insubstituíveis.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g3c425a62f68_0_0" title="Plataforma Obeci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67775"/>
            <a:ext cx="11887200" cy="63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4373e66a4_0_0"/>
          <p:cNvSpPr txBox="1"/>
          <p:nvPr>
            <p:ph type="title"/>
          </p:nvPr>
        </p:nvSpPr>
        <p:spPr>
          <a:xfrm>
            <a:off x="841198" y="2890494"/>
            <a:ext cx="10509600" cy="10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C5C"/>
              </a:buClr>
              <a:buSzPts val="4000"/>
              <a:buFont typeface="Arial"/>
              <a:buNone/>
            </a:pPr>
            <a:r>
              <a:rPr b="1" lang="pt-BR" sz="4000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Muito Obrigado!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2026-02-02T15:50:21Z</dcterms:created>
  <dc:creator>Rosana Santos Meyer</dc:creator>
</cp:coreProperties>
</file>