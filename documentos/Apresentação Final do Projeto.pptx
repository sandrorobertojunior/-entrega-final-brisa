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9144000"/>
  <p:embeddedFontLst>
    <p:embeddedFont>
      <p:font typeface="Play"/>
      <p:regular r:id="rId12"/>
      <p:bold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4" roundtripDataSignature="AMtx7mgzm8NVh08+MBzM6fFzbab3Bhrp4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Play-bold.fntdata"/><Relationship Id="rId12" Type="http://schemas.openxmlformats.org/officeDocument/2006/relationships/font" Target="fonts/Play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br>
              <a:rPr lang="pt-BR"/>
            </a:br>
            <a:endParaRPr/>
          </a:p>
        </p:txBody>
      </p:sp>
      <p:sp>
        <p:nvSpPr>
          <p:cNvPr id="119" name="Google Shape;11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8" name="Google Shape;13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2" name="Google Shape;16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c425a62f6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g3c425a62f6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/>
              <a:t>Explicar o vídeo.</a:t>
            </a:r>
            <a:endParaRPr/>
          </a:p>
        </p:txBody>
      </p:sp>
      <p:sp>
        <p:nvSpPr>
          <p:cNvPr id="174" name="Google Shape;174;g3c425a62f68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c4373e66a4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g3c4373e66a4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/>
              <a:t>Vamos escalar a inteligência pedagógica juntos?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/>
              <a:t>Obrigado!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" name="Google Shape;180;g3c4373e66a4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7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7"/>
          <p:cNvSpPr txBox="1"/>
          <p:nvPr>
            <p:ph idx="11" type="ftr"/>
          </p:nvPr>
        </p:nvSpPr>
        <p:spPr>
          <a:xfrm>
            <a:off x="6888623" y="9687816"/>
            <a:ext cx="2043780" cy="181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8890" r="7370" t="0"/>
          <a:stretch/>
        </p:blipFill>
        <p:spPr>
          <a:xfrm>
            <a:off x="1522800" y="5860077"/>
            <a:ext cx="6337125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tipo&#10;&#10;O conteúdo gerado por IA pode estar incorreto." id="20" name="Google Shape;20;p7"/>
          <p:cNvPicPr preferRelativeResize="0"/>
          <p:nvPr/>
        </p:nvPicPr>
        <p:blipFill rotWithShape="1">
          <a:blip r:embed="rId3">
            <a:alphaModFix/>
          </a:blip>
          <a:srcRect b="0" l="3350" r="5798" t="0"/>
          <a:stretch/>
        </p:blipFill>
        <p:spPr>
          <a:xfrm>
            <a:off x="7966512" y="5860077"/>
            <a:ext cx="2701488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1" name="Google Shape;21;p7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3402735" y="183550"/>
            <a:ext cx="4959251" cy="597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9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1" name="Google Shape;3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0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0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14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5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CE6D8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20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3.png"/><Relationship Id="rId6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drive.google.com/file/d/1a87jE8s9CYoRvdBwrdZpLUnMg1oZoLu3/view" TargetMode="External"/><Relationship Id="rId4" Type="http://schemas.openxmlformats.org/officeDocument/2006/relationships/image" Target="../media/image1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bg>
      <p:bgPr>
        <a:solidFill>
          <a:srgbClr val="ECE6D8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/>
          <p:nvPr>
            <p:ph type="ctrTitle"/>
          </p:nvPr>
        </p:nvSpPr>
        <p:spPr>
          <a:xfrm>
            <a:off x="474367" y="1396062"/>
            <a:ext cx="60249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F5721"/>
              </a:buClr>
              <a:buSzPts val="3200"/>
              <a:buFont typeface="Arial"/>
              <a:buNone/>
            </a:pPr>
            <a:r>
              <a:rPr b="1" lang="pt-BR" sz="3200">
                <a:solidFill>
                  <a:srgbClr val="CF5721"/>
                </a:solidFill>
              </a:rPr>
              <a:t>Plataforma Integrada OBECI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517443" y="2813247"/>
            <a:ext cx="5051400" cy="12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Luan Zumacke</a:t>
            </a:r>
            <a:endParaRPr b="0" i="0" sz="1600" u="none" cap="none" strike="noStrike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Lucas Schlupp</a:t>
            </a:r>
            <a:endParaRPr b="0" i="0" sz="1600" u="none" cap="none" strike="noStrike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Manuella Pinheiro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Rosa</a:t>
            </a:r>
            <a:r>
              <a:rPr lang="pt-BR" sz="1600">
                <a:solidFill>
                  <a:srgbClr val="1C3C5C"/>
                </a:solidFill>
              </a:rPr>
              <a:t>na </a:t>
            </a:r>
            <a:r>
              <a:rPr b="0" i="0" lang="pt-BR" sz="16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Meyer</a:t>
            </a:r>
            <a:endParaRPr b="0" i="0" sz="1600" u="none" cap="none" strike="noStrike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pt-BR" sz="1600">
                <a:solidFill>
                  <a:srgbClr val="1C3C5C"/>
                </a:solidFill>
              </a:rPr>
              <a:t>Sandro R. S. Gonçalves Júnior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17441" y="4173167"/>
            <a:ext cx="6096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pt-BR" sz="1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Orientação: Prof.ª Ma. Izabel Cristina da Rosa dos Santos e </a:t>
            </a:r>
            <a:endParaRPr b="0" i="0" sz="1400" u="none" cap="none" strike="noStrike">
              <a:solidFill>
                <a:srgbClr val="CF57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pt-BR" sz="1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Mauricio dos </a:t>
            </a:r>
            <a:r>
              <a:rPr lang="pt-BR">
                <a:solidFill>
                  <a:srgbClr val="CF5721"/>
                </a:solidFill>
              </a:rPr>
              <a:t>S</a:t>
            </a:r>
            <a:r>
              <a:rPr b="0" i="0" lang="pt-BR" sz="1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antos </a:t>
            </a:r>
            <a:r>
              <a:rPr lang="pt-BR">
                <a:solidFill>
                  <a:srgbClr val="CF5721"/>
                </a:solidFill>
              </a:rPr>
              <a:t>F</a:t>
            </a:r>
            <a:r>
              <a:rPr b="0" i="0" lang="pt-BR" sz="1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erreira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474366" y="1964472"/>
            <a:ext cx="60249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F5721"/>
              </a:buClr>
              <a:buSzPts val="2400"/>
              <a:buFont typeface="Arial"/>
              <a:buNone/>
            </a:pPr>
            <a:r>
              <a:rPr b="1" i="0" lang="pt-BR" sz="2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Inovação no Planejamento para a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F5721"/>
              </a:buClr>
              <a:buSzPts val="2400"/>
              <a:buFont typeface="Arial"/>
              <a:buNone/>
            </a:pPr>
            <a:r>
              <a:rPr b="1" i="0" lang="pt-BR" sz="2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Educação Infantil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" title="un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7038" y="5215100"/>
            <a:ext cx="2376052" cy="64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18994" y="5860100"/>
            <a:ext cx="7581455" cy="901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31187" y="5215100"/>
            <a:ext cx="1881913" cy="64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" title="imagem-logi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17672" y="0"/>
            <a:ext cx="592544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3350" y="90025"/>
            <a:ext cx="2656966" cy="1375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517441" y="4694130"/>
            <a:ext cx="6096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>
                <a:solidFill>
                  <a:srgbClr val="CF5721"/>
                </a:solidFill>
              </a:rPr>
              <a:t>Cliente: Paulo Fochi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 txBox="1"/>
          <p:nvPr>
            <p:ph type="title"/>
          </p:nvPr>
        </p:nvSpPr>
        <p:spPr>
          <a:xfrm>
            <a:off x="838200" y="557188"/>
            <a:ext cx="10515600" cy="1133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ts val="5200"/>
              <a:buFont typeface="Arial"/>
              <a:buNone/>
            </a:pPr>
            <a:r>
              <a:rPr b="1" lang="pt-BR" sz="52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A "Colcha de Retalhos" Digital</a:t>
            </a:r>
            <a:endParaRPr/>
          </a:p>
        </p:txBody>
      </p:sp>
      <p:grpSp>
        <p:nvGrpSpPr>
          <p:cNvPr id="106" name="Google Shape;106;p2"/>
          <p:cNvGrpSpPr/>
          <p:nvPr/>
        </p:nvGrpSpPr>
        <p:grpSpPr>
          <a:xfrm>
            <a:off x="1256171" y="2321995"/>
            <a:ext cx="9679657" cy="3366153"/>
            <a:chOff x="417971" y="493195"/>
            <a:chExt cx="9679657" cy="3366153"/>
          </a:xfrm>
        </p:grpSpPr>
        <p:sp>
          <p:nvSpPr>
            <p:cNvPr id="107" name="Google Shape;107;p2"/>
            <p:cNvSpPr/>
            <p:nvPr/>
          </p:nvSpPr>
          <p:spPr>
            <a:xfrm>
              <a:off x="1142694" y="493195"/>
              <a:ext cx="1440003" cy="1300252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417971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2"/>
            <p:cNvSpPr txBox="1"/>
            <p:nvPr/>
          </p:nvSpPr>
          <p:spPr>
            <a:xfrm>
              <a:off x="417971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C3C5C"/>
                </a:buClr>
                <a:buSzPts val="1800"/>
                <a:buFont typeface="Arial"/>
                <a:buNone/>
              </a:pPr>
              <a:r>
                <a:rPr b="1" i="0" lang="pt-BR" sz="18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O Cenário Atual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630"/>
                </a:spcBef>
                <a:spcAft>
                  <a:spcPts val="0"/>
                </a:spcAft>
                <a:buClr>
                  <a:srgbClr val="1C3C5C"/>
                </a:buClr>
                <a:buSzPts val="1800"/>
                <a:buFont typeface="Arial"/>
                <a:buNone/>
              </a:pPr>
              <a:r>
                <a:rPr b="0" i="0" lang="pt-BR" sz="18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Hoje, a documentação pedagógica é fragmentada. Professores saltam entre Google Slides, Canva, Miro e redes sociais.</a:t>
              </a:r>
              <a:endParaRPr b="0" i="0" sz="18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4537798" y="493195"/>
              <a:ext cx="1440003" cy="1300252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3813075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2"/>
            <p:cNvSpPr txBox="1"/>
            <p:nvPr/>
          </p:nvSpPr>
          <p:spPr>
            <a:xfrm>
              <a:off x="3813075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C3C5C"/>
                </a:buClr>
                <a:buSzPts val="1800"/>
                <a:buFont typeface="Arial"/>
                <a:buNone/>
              </a:pPr>
              <a:r>
                <a:rPr b="1" i="0" lang="pt-BR" sz="18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A Ineficiência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630"/>
                </a:spcBef>
                <a:spcAft>
                  <a:spcPts val="0"/>
                </a:spcAft>
                <a:buClr>
                  <a:srgbClr val="1C3C5C"/>
                </a:buClr>
                <a:buSzPts val="1800"/>
                <a:buFont typeface="Arial"/>
                <a:buNone/>
              </a:pPr>
              <a:r>
                <a:rPr b="0" i="0" lang="pt-BR" sz="18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Essa descentralização gera perda de tempo e processos desestruturados.</a:t>
              </a:r>
              <a:endParaRPr b="0" i="0" sz="18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7932901" y="493195"/>
              <a:ext cx="1440003" cy="1300252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7208178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2"/>
            <p:cNvSpPr txBox="1"/>
            <p:nvPr/>
          </p:nvSpPr>
          <p:spPr>
            <a:xfrm>
              <a:off x="7208178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C3C5C"/>
                </a:buClr>
                <a:buSzPts val="1600"/>
                <a:buFont typeface="Arial"/>
                <a:buNone/>
              </a:pPr>
              <a:r>
                <a:rPr b="1" i="0" lang="pt-BR" sz="16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O Risco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560"/>
                </a:spcBef>
                <a:spcAft>
                  <a:spcPts val="0"/>
                </a:spcAft>
                <a:buClr>
                  <a:srgbClr val="1C3C5C"/>
                </a:buClr>
                <a:buSzPts val="1800"/>
                <a:buFont typeface="Arial"/>
                <a:buNone/>
              </a:pPr>
              <a:r>
                <a:rPr b="0" i="0" lang="pt-BR" sz="18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O uso de sistemas em servidores aleatórios para compartilhar o cotidiano escolar traz graves preocupações com a privacidade e o uso de imagens de menores.</a:t>
              </a:r>
              <a:endParaRPr b="0" i="0" sz="18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 txBox="1"/>
          <p:nvPr>
            <p:ph type="title"/>
          </p:nvPr>
        </p:nvSpPr>
        <p:spPr>
          <a:xfrm>
            <a:off x="841248" y="256032"/>
            <a:ext cx="10506456" cy="10149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ts val="3100"/>
              <a:buFont typeface="Arial"/>
              <a:buNone/>
            </a:pPr>
            <a:br>
              <a:rPr b="1" lang="pt-BR" sz="31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pt-BR" sz="31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Plataforma Integrada OBECI – Um Ecossistema Único</a:t>
            </a:r>
            <a:endParaRPr/>
          </a:p>
        </p:txBody>
      </p:sp>
      <p:grpSp>
        <p:nvGrpSpPr>
          <p:cNvPr id="122" name="Google Shape;122;p3"/>
          <p:cNvGrpSpPr/>
          <p:nvPr/>
        </p:nvGrpSpPr>
        <p:grpSpPr>
          <a:xfrm>
            <a:off x="693467" y="1489243"/>
            <a:ext cx="10515600" cy="1939757"/>
            <a:chOff x="832104" y="1638116"/>
            <a:chExt cx="10515600" cy="1939757"/>
          </a:xfrm>
        </p:grpSpPr>
        <p:grpSp>
          <p:nvGrpSpPr>
            <p:cNvPr id="123" name="Google Shape;123;p3"/>
            <p:cNvGrpSpPr/>
            <p:nvPr/>
          </p:nvGrpSpPr>
          <p:grpSpPr>
            <a:xfrm>
              <a:off x="832104" y="1638116"/>
              <a:ext cx="10515600" cy="969878"/>
              <a:chOff x="838200" y="1928074"/>
              <a:chExt cx="10515600" cy="969878"/>
            </a:xfrm>
          </p:grpSpPr>
          <p:sp>
            <p:nvSpPr>
              <p:cNvPr id="124" name="Google Shape;124;p3"/>
              <p:cNvSpPr/>
              <p:nvPr/>
            </p:nvSpPr>
            <p:spPr>
              <a:xfrm>
                <a:off x="838200" y="1928074"/>
                <a:ext cx="10515600" cy="916611"/>
              </a:xfrm>
              <a:prstGeom prst="roundRect">
                <a:avLst>
                  <a:gd fmla="val 10000" name="adj"/>
                </a:avLst>
              </a:prstGeom>
              <a:solidFill>
                <a:srgbClr val="CF572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" name="Google Shape;125;p3"/>
              <p:cNvSpPr/>
              <p:nvPr/>
            </p:nvSpPr>
            <p:spPr>
              <a:xfrm>
                <a:off x="1115475" y="2134312"/>
                <a:ext cx="504136" cy="504136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  <a:effectLst>
                <a:outerShdw blurRad="57150" rotWithShape="0" algn="ctr" dir="5400000" dist="19050">
                  <a:srgbClr val="000000">
                    <a:alpha val="62745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" name="Google Shape;126;p3"/>
              <p:cNvSpPr/>
              <p:nvPr/>
            </p:nvSpPr>
            <p:spPr>
              <a:xfrm>
                <a:off x="1896886" y="1928074"/>
                <a:ext cx="9456913" cy="9166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" name="Google Shape;127;p3"/>
              <p:cNvSpPr txBox="1"/>
              <p:nvPr/>
            </p:nvSpPr>
            <p:spPr>
              <a:xfrm>
                <a:off x="1756724" y="1981341"/>
                <a:ext cx="9456913" cy="9166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7000" lIns="97000" spcFirstLastPara="1" rIns="97000" wrap="square" tIns="97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500"/>
                  <a:buFont typeface="Arial"/>
                  <a:buNone/>
                </a:pPr>
                <a:r>
                  <a:rPr b="1" i="0" lang="pt-BR" sz="15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O que é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525"/>
                  </a:spcBef>
                  <a:spcAft>
                    <a:spcPts val="0"/>
                  </a:spcAft>
                  <a:buClr>
                    <a:schemeClr val="lt1"/>
                  </a:buClr>
                  <a:buSzPts val="1500"/>
                  <a:buFont typeface="Arial"/>
                  <a:buNone/>
                </a:pPr>
                <a:r>
                  <a:rPr b="0" i="0" lang="pt-BR" sz="15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Um ambiente digital único, seguro e integrado, desenhado especificamente para o propósito do Instituto OBECI.</a:t>
                </a:r>
                <a:endParaRPr b="0" i="0" sz="15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28" name="Google Shape;128;p3"/>
            <p:cNvGrpSpPr/>
            <p:nvPr/>
          </p:nvGrpSpPr>
          <p:grpSpPr>
            <a:xfrm>
              <a:off x="832104" y="2661261"/>
              <a:ext cx="10515600" cy="916612"/>
              <a:chOff x="838200" y="3073838"/>
              <a:chExt cx="10515600" cy="916612"/>
            </a:xfrm>
          </p:grpSpPr>
          <p:sp>
            <p:nvSpPr>
              <p:cNvPr id="129" name="Google Shape;129;p3"/>
              <p:cNvSpPr/>
              <p:nvPr/>
            </p:nvSpPr>
            <p:spPr>
              <a:xfrm>
                <a:off x="838200" y="3073839"/>
                <a:ext cx="10515600" cy="916611"/>
              </a:xfrm>
              <a:prstGeom prst="roundRect">
                <a:avLst>
                  <a:gd fmla="val 10000" name="adj"/>
                </a:avLst>
              </a:prstGeom>
              <a:solidFill>
                <a:srgbClr val="CF572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0" name="Google Shape;130;p3"/>
              <p:cNvSpPr/>
              <p:nvPr/>
            </p:nvSpPr>
            <p:spPr>
              <a:xfrm>
                <a:off x="1115475" y="3280077"/>
                <a:ext cx="504136" cy="504136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  <a:effectLst>
                <a:outerShdw blurRad="57150" rotWithShape="0" algn="ctr" dir="5400000" dist="19050">
                  <a:srgbClr val="000000">
                    <a:alpha val="62745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1" name="Google Shape;131;p3"/>
              <p:cNvSpPr/>
              <p:nvPr/>
            </p:nvSpPr>
            <p:spPr>
              <a:xfrm>
                <a:off x="1896886" y="3073839"/>
                <a:ext cx="9456913" cy="9166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" name="Google Shape;132;p3"/>
              <p:cNvSpPr txBox="1"/>
              <p:nvPr/>
            </p:nvSpPr>
            <p:spPr>
              <a:xfrm>
                <a:off x="1756724" y="3073838"/>
                <a:ext cx="9456913" cy="9166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7000" lIns="97000" spcFirstLastPara="1" rIns="97000" wrap="square" tIns="97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500"/>
                  <a:buFont typeface="Arial"/>
                  <a:buNone/>
                </a:pPr>
                <a:r>
                  <a:rPr b="1" i="0" lang="pt-BR" sz="15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Propósito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525"/>
                  </a:spcBef>
                  <a:spcAft>
                    <a:spcPts val="0"/>
                  </a:spcAft>
                  <a:buNone/>
                </a:pPr>
                <a:r>
                  <a:rPr b="0" i="0" lang="pt-BR" sz="15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Centralizar o trabalho pedagógico e a representação do cotidiano das crianças em uma ferramenta.</a:t>
                </a:r>
                <a:endParaRPr b="0" i="0" sz="15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descr="Interface gráfica do usuário, Aplicativo&#10;&#10;O conteúdo gerado por IA pode estar incorreto." id="133" name="Google Shape;133;p3"/>
          <p:cNvPicPr preferRelativeResize="0"/>
          <p:nvPr/>
        </p:nvPicPr>
        <p:blipFill rotWithShape="1">
          <a:blip r:embed="rId5">
            <a:alphaModFix/>
          </a:blip>
          <a:srcRect b="0" l="0" r="0" t="15063"/>
          <a:stretch/>
        </p:blipFill>
        <p:spPr>
          <a:xfrm>
            <a:off x="1395022" y="3490182"/>
            <a:ext cx="9398908" cy="291756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esenho de um círculo&#10;&#10;O conteúdo gerado por IA pode estar incorreto." id="134" name="Google Shape;134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28980" y="3987813"/>
            <a:ext cx="4330991" cy="682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3400">
        <p14:reveal dir="l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CE6D8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4"/>
          <p:cNvSpPr txBox="1"/>
          <p:nvPr>
            <p:ph type="title"/>
          </p:nvPr>
        </p:nvSpPr>
        <p:spPr>
          <a:xfrm>
            <a:off x="827425" y="356800"/>
            <a:ext cx="3737400" cy="382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ts val="3600"/>
              <a:buFont typeface="Arial"/>
              <a:buNone/>
            </a:pPr>
            <a:r>
              <a:rPr b="1" lang="pt-BR" sz="36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Experiência do Usuário</a:t>
            </a:r>
            <a:endParaRPr/>
          </a:p>
        </p:txBody>
      </p:sp>
      <p:grpSp>
        <p:nvGrpSpPr>
          <p:cNvPr id="141" name="Google Shape;141;p4"/>
          <p:cNvGrpSpPr/>
          <p:nvPr/>
        </p:nvGrpSpPr>
        <p:grpSpPr>
          <a:xfrm>
            <a:off x="5047109" y="806165"/>
            <a:ext cx="6263641" cy="3372029"/>
            <a:chOff x="5090159" y="1516740"/>
            <a:chExt cx="6263641" cy="3372029"/>
          </a:xfrm>
        </p:grpSpPr>
        <p:sp>
          <p:nvSpPr>
            <p:cNvPr id="142" name="Google Shape;142;p4"/>
            <p:cNvSpPr/>
            <p:nvPr/>
          </p:nvSpPr>
          <p:spPr>
            <a:xfrm>
              <a:off x="5090160" y="1516740"/>
              <a:ext cx="6263640" cy="849893"/>
            </a:xfrm>
            <a:prstGeom prst="roundRect">
              <a:avLst>
                <a:gd fmla="val 10000" name="adj"/>
              </a:avLst>
            </a:prstGeom>
            <a:solidFill>
              <a:srgbClr val="F6C5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4"/>
            <p:cNvSpPr/>
            <p:nvPr/>
          </p:nvSpPr>
          <p:spPr>
            <a:xfrm>
              <a:off x="5347252" y="1707966"/>
              <a:ext cx="467441" cy="467441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4"/>
            <p:cNvSpPr/>
            <p:nvPr/>
          </p:nvSpPr>
          <p:spPr>
            <a:xfrm>
              <a:off x="6071787" y="1516740"/>
              <a:ext cx="5282012" cy="8498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4"/>
            <p:cNvSpPr txBox="1"/>
            <p:nvPr/>
          </p:nvSpPr>
          <p:spPr>
            <a:xfrm>
              <a:off x="6071787" y="1516740"/>
              <a:ext cx="5282012" cy="8498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925" lIns="89925" spcFirstLastPara="1" rIns="89925" wrap="square" tIns="899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900"/>
                <a:buFont typeface="Arial"/>
                <a:buNone/>
              </a:pPr>
              <a:r>
                <a:rPr b="0" i="0" lang="pt-BR" sz="19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Interface Otimizadas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4"/>
            <p:cNvSpPr/>
            <p:nvPr/>
          </p:nvSpPr>
          <p:spPr>
            <a:xfrm>
              <a:off x="5090160" y="2579107"/>
              <a:ext cx="6263640" cy="849893"/>
            </a:xfrm>
            <a:prstGeom prst="roundRect">
              <a:avLst>
                <a:gd fmla="val 10000" name="adj"/>
              </a:avLst>
            </a:prstGeom>
            <a:solidFill>
              <a:srgbClr val="F2A9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4"/>
            <p:cNvSpPr/>
            <p:nvPr/>
          </p:nvSpPr>
          <p:spPr>
            <a:xfrm>
              <a:off x="5347252" y="2770333"/>
              <a:ext cx="467441" cy="467441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4"/>
            <p:cNvSpPr/>
            <p:nvPr/>
          </p:nvSpPr>
          <p:spPr>
            <a:xfrm>
              <a:off x="6071787" y="2579107"/>
              <a:ext cx="5282012" cy="8498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4"/>
            <p:cNvSpPr txBox="1"/>
            <p:nvPr/>
          </p:nvSpPr>
          <p:spPr>
            <a:xfrm>
              <a:off x="6071787" y="2579107"/>
              <a:ext cx="5282012" cy="8498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925" lIns="89925" spcFirstLastPara="1" rIns="89925" wrap="square" tIns="899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900"/>
                <a:buFont typeface="Arial"/>
                <a:buNone/>
              </a:pPr>
              <a:r>
                <a:rPr b="0" i="0" lang="pt-BR" sz="19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Múltiplos acessos simultâneos</a:t>
              </a:r>
              <a:endPara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50" name="Google Shape;150;p4"/>
            <p:cNvGrpSpPr/>
            <p:nvPr/>
          </p:nvGrpSpPr>
          <p:grpSpPr>
            <a:xfrm>
              <a:off x="5090159" y="3641474"/>
              <a:ext cx="6263640" cy="1247295"/>
              <a:chOff x="5093208" y="4873822"/>
              <a:chExt cx="6263640" cy="1247295"/>
            </a:xfrm>
          </p:grpSpPr>
          <p:sp>
            <p:nvSpPr>
              <p:cNvPr id="151" name="Google Shape;151;p4"/>
              <p:cNvSpPr/>
              <p:nvPr/>
            </p:nvSpPr>
            <p:spPr>
              <a:xfrm>
                <a:off x="5093208" y="4873822"/>
                <a:ext cx="6263640" cy="1247295"/>
              </a:xfrm>
              <a:prstGeom prst="roundRect">
                <a:avLst>
                  <a:gd fmla="val 10000" name="adj"/>
                </a:avLst>
              </a:prstGeom>
              <a:solidFill>
                <a:srgbClr val="BF4F1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" name="Google Shape;152;p4"/>
              <p:cNvSpPr/>
              <p:nvPr/>
            </p:nvSpPr>
            <p:spPr>
              <a:xfrm>
                <a:off x="5350299" y="5263748"/>
                <a:ext cx="467441" cy="467441"/>
              </a:xfrm>
              <a:prstGeom prst="rect">
                <a:avLst/>
              </a:prstGeom>
              <a:blipFill rotWithShape="1">
                <a:blip r:embed="rId5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" name="Google Shape;153;p4"/>
              <p:cNvSpPr/>
              <p:nvPr/>
            </p:nvSpPr>
            <p:spPr>
              <a:xfrm>
                <a:off x="6074835" y="5072523"/>
                <a:ext cx="5282012" cy="84989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" name="Google Shape;154;p4"/>
              <p:cNvSpPr txBox="1"/>
              <p:nvPr/>
            </p:nvSpPr>
            <p:spPr>
              <a:xfrm>
                <a:off x="6074835" y="5072523"/>
                <a:ext cx="5282012" cy="84989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89925" lIns="89925" spcFirstLastPara="1" rIns="89925" wrap="square" tIns="899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900"/>
                  <a:buFont typeface="Arial"/>
                  <a:buNone/>
                </a:pPr>
                <a:r>
                  <a:rPr b="0" i="0" lang="pt-BR" sz="19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Simplicidade Operacional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55" name="Google Shape;155;p4"/>
          <p:cNvSpPr txBox="1"/>
          <p:nvPr>
            <p:ph type="title"/>
          </p:nvPr>
        </p:nvSpPr>
        <p:spPr>
          <a:xfrm>
            <a:off x="827425" y="3710450"/>
            <a:ext cx="3737400" cy="382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ts val="3600"/>
              <a:buFont typeface="Arial"/>
              <a:buNone/>
            </a:pPr>
            <a:r>
              <a:rPr b="1" lang="pt-BR" sz="36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Requisitos para implantação </a:t>
            </a:r>
            <a:endParaRPr/>
          </a:p>
        </p:txBody>
      </p:sp>
      <p:sp>
        <p:nvSpPr>
          <p:cNvPr id="156" name="Google Shape;156;p4"/>
          <p:cNvSpPr/>
          <p:nvPr/>
        </p:nvSpPr>
        <p:spPr>
          <a:xfrm>
            <a:off x="5047075" y="4997450"/>
            <a:ext cx="6263700" cy="1247400"/>
          </a:xfrm>
          <a:prstGeom prst="roundRect">
            <a:avLst>
              <a:gd fmla="val 1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4"/>
          <p:cNvSpPr txBox="1"/>
          <p:nvPr/>
        </p:nvSpPr>
        <p:spPr>
          <a:xfrm>
            <a:off x="5836636" y="5196200"/>
            <a:ext cx="5282100" cy="8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9925" lIns="89925" spcFirstLastPara="1" rIns="89925" wrap="square" tIns="89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r>
              <a:rPr lang="pt-BR" sz="1900">
                <a:solidFill>
                  <a:schemeClr val="dk1"/>
                </a:solidFill>
              </a:rPr>
              <a:t>Domínio</a:t>
            </a:r>
            <a:r>
              <a:rPr lang="pt-BR" sz="1900">
                <a:solidFill>
                  <a:schemeClr val="dk1"/>
                </a:solidFill>
              </a:rPr>
              <a:t> e um Host para hospedar a aplicação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5191050" y="5282600"/>
            <a:ext cx="645600" cy="67710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57150" rotWithShape="0" algn="ctr" dir="5400000" dist="19050">
              <a:srgbClr val="000000">
                <a:alpha val="6275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"/>
          <p:cNvSpPr txBox="1"/>
          <p:nvPr>
            <p:ph type="title"/>
          </p:nvPr>
        </p:nvSpPr>
        <p:spPr>
          <a:xfrm>
            <a:off x="841248" y="334644"/>
            <a:ext cx="10509504" cy="10769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ts val="4000"/>
              <a:buFont typeface="Arial"/>
              <a:buNone/>
            </a:pPr>
            <a:r>
              <a:rPr b="1" lang="pt-BR" sz="40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Navegabilidade</a:t>
            </a:r>
            <a:endParaRPr/>
          </a:p>
        </p:txBody>
      </p:sp>
      <p:grpSp>
        <p:nvGrpSpPr>
          <p:cNvPr id="165" name="Google Shape;165;p5"/>
          <p:cNvGrpSpPr/>
          <p:nvPr/>
        </p:nvGrpSpPr>
        <p:grpSpPr>
          <a:xfrm>
            <a:off x="841248" y="1667590"/>
            <a:ext cx="10506456" cy="1076914"/>
            <a:chOff x="838200" y="1754081"/>
            <a:chExt cx="10506456" cy="868140"/>
          </a:xfrm>
        </p:grpSpPr>
        <p:sp>
          <p:nvSpPr>
            <p:cNvPr id="166" name="Google Shape;166;p5"/>
            <p:cNvSpPr/>
            <p:nvPr/>
          </p:nvSpPr>
          <p:spPr>
            <a:xfrm>
              <a:off x="838200" y="1754081"/>
              <a:ext cx="10506456" cy="868140"/>
            </a:xfrm>
            <a:prstGeom prst="roundRect">
              <a:avLst>
                <a:gd fmla="val 16667" name="adj"/>
              </a:avLst>
            </a:prstGeom>
            <a:solidFill>
              <a:srgbClr val="CF5721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5"/>
            <p:cNvSpPr txBox="1"/>
            <p:nvPr/>
          </p:nvSpPr>
          <p:spPr>
            <a:xfrm>
              <a:off x="880579" y="1754081"/>
              <a:ext cx="10421698" cy="8257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325" lIns="53325" spcFirstLastPara="1" rIns="53325" wrap="square" tIns="533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b="1" i="0" lang="pt-BR" sz="15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Busca Inteligente e Organização</a:t>
              </a:r>
              <a:endParaRPr b="1" i="0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525"/>
                </a:spcBef>
                <a:spcAft>
                  <a:spcPts val="0"/>
                </a:spcAft>
                <a:buNone/>
              </a:pPr>
              <a:r>
                <a:rPr b="0" i="0" lang="pt-BR" sz="15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Localização instantânea de qualquer registro através de filtros combinados por tipo de instrumento pedagógico e tags customizáveis.</a:t>
              </a:r>
              <a:endParaRPr b="0" i="0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Interface gráfica do usuário, Texto, Aplicativo, chat ou mensagem de texto&#10;&#10;O conteúdo gerado por IA pode estar incorreto." id="168" name="Google Shape;16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83955" y="3126715"/>
            <a:ext cx="2953162" cy="2391109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 cap="flat" cmpd="sng" w="38100">
            <a:solidFill>
              <a:srgbClr val="F2A982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5000" endA="0" endPos="28000" kx="0" rotWithShape="0" algn="bl" stA="38000" stPos="0" sy="-100000" ky="0"/>
          </a:effectLst>
        </p:spPr>
      </p:pic>
      <p:pic>
        <p:nvPicPr>
          <p:cNvPr descr="Interface gráfica do usuário, Aplicativo&#10;&#10;O conteúdo gerado por IA pode estar incorreto." id="169" name="Google Shape;169;p5"/>
          <p:cNvPicPr preferRelativeResize="0"/>
          <p:nvPr/>
        </p:nvPicPr>
        <p:blipFill rotWithShape="1">
          <a:blip r:embed="rId4">
            <a:alphaModFix/>
          </a:blip>
          <a:srcRect b="0" l="0" r="0" t="3689"/>
          <a:stretch/>
        </p:blipFill>
        <p:spPr>
          <a:xfrm>
            <a:off x="7554499" y="3079085"/>
            <a:ext cx="2276793" cy="2486371"/>
          </a:xfrm>
          <a:prstGeom prst="roundRect">
            <a:avLst>
              <a:gd fmla="val 8594" name="adj"/>
            </a:avLst>
          </a:prstGeom>
          <a:solidFill>
            <a:srgbClr val="BF4F14"/>
          </a:solidFill>
          <a:ln cap="flat" cmpd="sng" w="28575">
            <a:solidFill>
              <a:srgbClr val="F2A982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5000" endA="0" endPos="28000" kx="0" rotWithShape="0" algn="bl" stA="38000" stPos="0" sy="-100000" ky="0"/>
          </a:effectLst>
        </p:spPr>
      </p:pic>
      <p:sp>
        <p:nvSpPr>
          <p:cNvPr id="170" name="Google Shape;170;p5"/>
          <p:cNvSpPr/>
          <p:nvPr/>
        </p:nvSpPr>
        <p:spPr>
          <a:xfrm>
            <a:off x="5448270" y="4154528"/>
            <a:ext cx="1694688" cy="335487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25400">
            <a:solidFill>
              <a:srgbClr val="0828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g3c425a62f68_0_0" title="Plataforma Obeci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52400"/>
            <a:ext cx="12192001" cy="6096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c4373e66a4_0_0"/>
          <p:cNvSpPr txBox="1"/>
          <p:nvPr>
            <p:ph type="title"/>
          </p:nvPr>
        </p:nvSpPr>
        <p:spPr>
          <a:xfrm>
            <a:off x="841198" y="2890494"/>
            <a:ext cx="10509600" cy="10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rPr b="1" lang="pt-BR" sz="40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Investir em nossa plataforma é garantir crescimento contínuo.</a:t>
            </a:r>
            <a:endParaRPr b="1" sz="4000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rPr b="1" lang="pt-BR" sz="40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Mais que ensino, resultados que fazem diferença.</a:t>
            </a:r>
            <a:endParaRPr b="1" sz="4000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t/>
            </a:r>
            <a:endParaRPr b="1" sz="4000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ct val="100000"/>
              <a:buFont typeface="Arial"/>
              <a:buNone/>
            </a:pPr>
            <a:r>
              <a:rPr b="1" lang="pt-BR" sz="40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Muito Obrigado!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2026-02-02T15:50:21Z</dcterms:created>
  <dc:creator>Rosana Santos Meyer</dc:creator>
</cp:coreProperties>
</file>