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Play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AR1MEciNpGaqDigpQwYaHE4oK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bold.fntdata"/><Relationship Id="rId12" Type="http://schemas.openxmlformats.org/officeDocument/2006/relationships/font" Target="fonts/Play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pt-BR"/>
            </a:br>
            <a:endParaRPr/>
          </a:p>
        </p:txBody>
      </p:sp>
      <p:sp>
        <p:nvSpPr>
          <p:cNvPr id="114" name="Google Shape;11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425a62f6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c425a62f6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Explicar o vídeo.</a:t>
            </a:r>
            <a:endParaRPr/>
          </a:p>
        </p:txBody>
      </p:sp>
      <p:sp>
        <p:nvSpPr>
          <p:cNvPr id="165" name="Google Shape;165;g3c425a62f6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4373e66a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c4373e66a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Vamos escalar a inteligência pedagógica juntos?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/>
              <a:t>Obrigado!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3c4373e66a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7"/>
          <p:cNvSpPr txBox="1"/>
          <p:nvPr>
            <p:ph idx="11" type="ftr"/>
          </p:nvPr>
        </p:nvSpPr>
        <p:spPr>
          <a:xfrm>
            <a:off x="6888623" y="9687816"/>
            <a:ext cx="2043780" cy="1813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" name="Google Shape;19;p7"/>
          <p:cNvPicPr preferRelativeResize="0"/>
          <p:nvPr/>
        </p:nvPicPr>
        <p:blipFill rotWithShape="1">
          <a:blip r:embed="rId2">
            <a:alphaModFix/>
          </a:blip>
          <a:srcRect b="0" l="8890" r="7370" t="0"/>
          <a:stretch/>
        </p:blipFill>
        <p:spPr>
          <a:xfrm>
            <a:off x="1522800" y="5860077"/>
            <a:ext cx="6337125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O conteúdo gerado por IA pode estar incorreto." id="20" name="Google Shape;20;p7"/>
          <p:cNvPicPr preferRelativeResize="0"/>
          <p:nvPr/>
        </p:nvPicPr>
        <p:blipFill rotWithShape="1">
          <a:blip r:embed="rId3">
            <a:alphaModFix/>
          </a:blip>
          <a:srcRect b="0" l="3350" r="5798" t="0"/>
          <a:stretch/>
        </p:blipFill>
        <p:spPr>
          <a:xfrm>
            <a:off x="7966512" y="5860077"/>
            <a:ext cx="2701488" cy="90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Ícone&#10;&#10;O conteúdo gerado por IA pode estar incorreto." id="21" name="Google Shape;21;p7"/>
          <p:cNvPicPr preferRelativeResize="0"/>
          <p:nvPr/>
        </p:nvPicPr>
        <p:blipFill rotWithShape="1">
          <a:blip r:embed="rId4">
            <a:alphaModFix amt="35000"/>
          </a:blip>
          <a:srcRect b="0" l="0" r="0" t="0"/>
          <a:stretch/>
        </p:blipFill>
        <p:spPr>
          <a:xfrm>
            <a:off x="3402735" y="183550"/>
            <a:ext cx="4959251" cy="597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1" name="Google Shape;3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6D8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a87jE8s9CYoRvdBwrdZpLUnMg1oZoLu3/view" TargetMode="External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ECE6D8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>
            <p:ph type="ctrTitle"/>
          </p:nvPr>
        </p:nvSpPr>
        <p:spPr>
          <a:xfrm>
            <a:off x="495892" y="1180762"/>
            <a:ext cx="6024769" cy="644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5721"/>
              </a:buClr>
              <a:buSzPts val="3200"/>
              <a:buFont typeface="Arial"/>
              <a:buNone/>
            </a:pPr>
            <a:r>
              <a:rPr b="1" lang="pt-BR" sz="3200">
                <a:solidFill>
                  <a:srgbClr val="CF5721"/>
                </a:solidFill>
              </a:rPr>
              <a:t>Plataforma Integrada OBECI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495893" y="3296297"/>
            <a:ext cx="5051467" cy="12772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rPr>
              <a:t>Luan Zumacke</a:t>
            </a:r>
            <a:endParaRPr b="0" i="0" sz="1600" u="none" cap="none" strike="noStrike">
              <a:solidFill>
                <a:srgbClr val="1C3C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rPr>
              <a:t>Lucas Schlupp</a:t>
            </a:r>
            <a:endParaRPr b="0" i="0" sz="1600" u="none" cap="none" strike="noStrike">
              <a:solidFill>
                <a:srgbClr val="1C3C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rPr>
              <a:t>Manuella Pinheiro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rPr>
              <a:t>Rosane Meyer</a:t>
            </a:r>
            <a:endParaRPr b="0" i="0" sz="1600" u="none" cap="none" strike="noStrike">
              <a:solidFill>
                <a:srgbClr val="1C3C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pt-BR" sz="1600" u="none" cap="none" strike="noStrike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rPr>
              <a:t>Sandro Santos Jr.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95891" y="5390067"/>
            <a:ext cx="609600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CF5721"/>
                </a:solidFill>
                <a:latin typeface="Arial"/>
                <a:ea typeface="Arial"/>
                <a:cs typeface="Arial"/>
                <a:sym typeface="Arial"/>
              </a:rPr>
              <a:t>Orientação: Prof.ª Ma. Izabel Cristina da Rosa dos Santos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495891" y="1749172"/>
            <a:ext cx="6024769" cy="644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5721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CF5721"/>
                </a:solidFill>
                <a:latin typeface="Arial"/>
                <a:ea typeface="Arial"/>
                <a:cs typeface="Arial"/>
                <a:sym typeface="Arial"/>
              </a:rPr>
              <a:t>Inovação no Planejamento para 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F5721"/>
              </a:buClr>
              <a:buSzPts val="2400"/>
              <a:buFont typeface="Arial"/>
              <a:buNone/>
            </a:pPr>
            <a:r>
              <a:rPr b="1" i="0" lang="pt-BR" sz="2400" u="none" cap="none" strike="noStrike">
                <a:solidFill>
                  <a:srgbClr val="CF5721"/>
                </a:solidFill>
                <a:latin typeface="Arial"/>
                <a:ea typeface="Arial"/>
                <a:cs typeface="Arial"/>
                <a:sym typeface="Arial"/>
              </a:rPr>
              <a:t>Educação Infantil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terface gráfica do usuário&#10;&#10;O conteúdo gerado por IA pode estar incorreto." id="94" name="Google Shape;94;p1"/>
          <p:cNvPicPr preferRelativeResize="0"/>
          <p:nvPr/>
        </p:nvPicPr>
        <p:blipFill rotWithShape="1">
          <a:blip r:embed="rId3">
            <a:alphaModFix/>
          </a:blip>
          <a:srcRect b="3288" l="1844" r="57030" t="3020"/>
          <a:stretch/>
        </p:blipFill>
        <p:spPr>
          <a:xfrm>
            <a:off x="6520661" y="531146"/>
            <a:ext cx="4718470" cy="57957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type="title"/>
          </p:nvPr>
        </p:nvSpPr>
        <p:spPr>
          <a:xfrm>
            <a:off x="838200" y="557188"/>
            <a:ext cx="10515600" cy="1133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C5C"/>
              </a:buClr>
              <a:buSzPts val="5200"/>
              <a:buFont typeface="Arial"/>
              <a:buNone/>
            </a:pPr>
            <a:r>
              <a:rPr b="1" lang="pt-BR" sz="5200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rPr>
              <a:t>A "Colcha de Retalhos" Digital</a:t>
            </a:r>
            <a:endParaRPr/>
          </a:p>
        </p:txBody>
      </p:sp>
      <p:grpSp>
        <p:nvGrpSpPr>
          <p:cNvPr id="101" name="Google Shape;101;p2"/>
          <p:cNvGrpSpPr/>
          <p:nvPr/>
        </p:nvGrpSpPr>
        <p:grpSpPr>
          <a:xfrm>
            <a:off x="1256171" y="2321995"/>
            <a:ext cx="9679657" cy="3366153"/>
            <a:chOff x="417971" y="493195"/>
            <a:chExt cx="9679657" cy="3366153"/>
          </a:xfrm>
        </p:grpSpPr>
        <p:sp>
          <p:nvSpPr>
            <p:cNvPr id="102" name="Google Shape;102;p2"/>
            <p:cNvSpPr/>
            <p:nvPr/>
          </p:nvSpPr>
          <p:spPr>
            <a:xfrm>
              <a:off x="1142694" y="493195"/>
              <a:ext cx="1440003" cy="130025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417971" y="2298411"/>
              <a:ext cx="2889450" cy="1560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417971" y="2298411"/>
              <a:ext cx="2889450" cy="1560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C3C5C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1C3C5C"/>
                  </a:solidFill>
                  <a:latin typeface="Arial"/>
                  <a:ea typeface="Arial"/>
                  <a:cs typeface="Arial"/>
                  <a:sym typeface="Arial"/>
                </a:rPr>
                <a:t>O Cenário Atual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630"/>
                </a:spcBef>
                <a:spcAft>
                  <a:spcPts val="0"/>
                </a:spcAft>
                <a:buClr>
                  <a:srgbClr val="1C3C5C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1C3C5C"/>
                  </a:solidFill>
                  <a:latin typeface="Arial"/>
                  <a:ea typeface="Arial"/>
                  <a:cs typeface="Arial"/>
                  <a:sym typeface="Arial"/>
                </a:rPr>
                <a:t>Hoje, a documentação pedagógica é fragmentada. Professores saltam entre Google Slides, Canva, Miro e redes sociais.</a:t>
              </a:r>
              <a:endParaRPr b="0" i="0" sz="1800" u="none" cap="none" strike="noStrike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4537798" y="493195"/>
              <a:ext cx="1440003" cy="130025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813075" y="2298411"/>
              <a:ext cx="2889450" cy="1560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3813075" y="2298411"/>
              <a:ext cx="2889450" cy="1560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C3C5C"/>
                </a:buClr>
                <a:buSzPts val="1800"/>
                <a:buFont typeface="Arial"/>
                <a:buNone/>
              </a:pPr>
              <a:r>
                <a:rPr b="1" i="0" lang="pt-BR" sz="1800" u="none" cap="none" strike="noStrike">
                  <a:solidFill>
                    <a:srgbClr val="1C3C5C"/>
                  </a:solidFill>
                  <a:latin typeface="Arial"/>
                  <a:ea typeface="Arial"/>
                  <a:cs typeface="Arial"/>
                  <a:sym typeface="Arial"/>
                </a:rPr>
                <a:t>A Ineficiência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630"/>
                </a:spcBef>
                <a:spcAft>
                  <a:spcPts val="0"/>
                </a:spcAft>
                <a:buClr>
                  <a:srgbClr val="1C3C5C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1C3C5C"/>
                  </a:solidFill>
                  <a:latin typeface="Arial"/>
                  <a:ea typeface="Arial"/>
                  <a:cs typeface="Arial"/>
                  <a:sym typeface="Arial"/>
                </a:rPr>
                <a:t>Essa descentralização gera perda de tempo e processos desestruturados.</a:t>
              </a:r>
              <a:endParaRPr b="0" i="0" sz="1800" u="none" cap="none" strike="noStrike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7932901" y="493195"/>
              <a:ext cx="1440003" cy="130025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7208178" y="2298411"/>
              <a:ext cx="2889450" cy="1560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7208178" y="2298411"/>
              <a:ext cx="2889450" cy="1560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C3C5C"/>
                </a:buClr>
                <a:buSzPts val="1600"/>
                <a:buFont typeface="Arial"/>
                <a:buNone/>
              </a:pPr>
              <a:r>
                <a:rPr b="1" i="0" lang="pt-BR" sz="1600" u="none" cap="none" strike="noStrike">
                  <a:solidFill>
                    <a:srgbClr val="1C3C5C"/>
                  </a:solidFill>
                  <a:latin typeface="Arial"/>
                  <a:ea typeface="Arial"/>
                  <a:cs typeface="Arial"/>
                  <a:sym typeface="Arial"/>
                </a:rPr>
                <a:t>O Risco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1C3C5C"/>
                </a:buClr>
                <a:buSzPts val="1800"/>
                <a:buFont typeface="Arial"/>
                <a:buNone/>
              </a:pPr>
              <a:r>
                <a:rPr b="0" i="0" lang="pt-BR" sz="1800" u="none" cap="none" strike="noStrike">
                  <a:solidFill>
                    <a:srgbClr val="1C3C5C"/>
                  </a:solidFill>
                  <a:latin typeface="Arial"/>
                  <a:ea typeface="Arial"/>
                  <a:cs typeface="Arial"/>
                  <a:sym typeface="Arial"/>
                </a:rPr>
                <a:t>O uso de sistemas em servidores aleatórios para compartilhar o cotidiano escolar traz graves preocupações com a privacidade e o uso de imagens de menores.</a:t>
              </a:r>
              <a:endParaRPr b="0" i="0" sz="1800" u="none" cap="none" strike="noStrike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>
            <p:ph type="title"/>
          </p:nvPr>
        </p:nvSpPr>
        <p:spPr>
          <a:xfrm>
            <a:off x="841248" y="256032"/>
            <a:ext cx="10506456" cy="10149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C5C"/>
              </a:buClr>
              <a:buSzPts val="3100"/>
              <a:buFont typeface="Arial"/>
              <a:buNone/>
            </a:pPr>
            <a:br>
              <a:rPr b="1" lang="pt-BR" sz="3100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3100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rPr>
              <a:t>Plataforma Integrada OBECI – Um Ecossistema Único</a:t>
            </a:r>
            <a:endParaRPr/>
          </a:p>
        </p:txBody>
      </p:sp>
      <p:grpSp>
        <p:nvGrpSpPr>
          <p:cNvPr id="117" name="Google Shape;117;p3"/>
          <p:cNvGrpSpPr/>
          <p:nvPr/>
        </p:nvGrpSpPr>
        <p:grpSpPr>
          <a:xfrm>
            <a:off x="693467" y="1489243"/>
            <a:ext cx="10515600" cy="1939757"/>
            <a:chOff x="832104" y="1638116"/>
            <a:chExt cx="10515600" cy="1939757"/>
          </a:xfrm>
        </p:grpSpPr>
        <p:grpSp>
          <p:nvGrpSpPr>
            <p:cNvPr id="118" name="Google Shape;118;p3"/>
            <p:cNvGrpSpPr/>
            <p:nvPr/>
          </p:nvGrpSpPr>
          <p:grpSpPr>
            <a:xfrm>
              <a:off x="832104" y="1638116"/>
              <a:ext cx="10515600" cy="969878"/>
              <a:chOff x="838200" y="1928074"/>
              <a:chExt cx="10515600" cy="969878"/>
            </a:xfrm>
          </p:grpSpPr>
          <p:sp>
            <p:nvSpPr>
              <p:cNvPr id="119" name="Google Shape;119;p3"/>
              <p:cNvSpPr/>
              <p:nvPr/>
            </p:nvSpPr>
            <p:spPr>
              <a:xfrm>
                <a:off x="838200" y="1928074"/>
                <a:ext cx="10515600" cy="916611"/>
              </a:xfrm>
              <a:prstGeom prst="roundRect">
                <a:avLst>
                  <a:gd fmla="val 10000" name="adj"/>
                </a:avLst>
              </a:prstGeom>
              <a:solidFill>
                <a:srgbClr val="CF57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>
                <a:off x="1115475" y="2134312"/>
                <a:ext cx="504136" cy="504136"/>
              </a:xfrm>
              <a:prstGeom prst="rect">
                <a:avLst/>
              </a:prstGeom>
              <a:blipFill rotWithShape="1">
                <a:blip r:embed="rId3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  <a:effectLst>
                <a:outerShdw blurRad="57150" rotWithShape="0" algn="ctr" dir="5400000" dist="19050">
                  <a:srgbClr val="000000">
                    <a:alpha val="62745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3"/>
              <p:cNvSpPr/>
              <p:nvPr/>
            </p:nvSpPr>
            <p:spPr>
              <a:xfrm>
                <a:off x="1896886" y="1928074"/>
                <a:ext cx="9456913" cy="9166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3"/>
              <p:cNvSpPr txBox="1"/>
              <p:nvPr/>
            </p:nvSpPr>
            <p:spPr>
              <a:xfrm>
                <a:off x="1756724" y="1981341"/>
                <a:ext cx="9456913" cy="9166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7000" lIns="97000" spcFirstLastPara="1" rIns="97000" wrap="square" tIns="97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  <a:buFont typeface="Arial"/>
                  <a:buNone/>
                </a:pPr>
                <a:r>
                  <a:rPr b="1" i="0" lang="pt-BR" sz="15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O que é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525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  <a:buFont typeface="Arial"/>
                  <a:buNone/>
                </a:pPr>
                <a:r>
                  <a:rPr b="0" i="0" lang="pt-BR" sz="15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Um ambiente digital único, seguro e integrado, desenhado especificamente para o propósito do Instituto OBECI.</a:t>
                </a:r>
                <a:endParaRPr b="0" i="0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" name="Google Shape;123;p3"/>
            <p:cNvGrpSpPr/>
            <p:nvPr/>
          </p:nvGrpSpPr>
          <p:grpSpPr>
            <a:xfrm>
              <a:off x="832104" y="2661261"/>
              <a:ext cx="10515600" cy="916612"/>
              <a:chOff x="838200" y="3073838"/>
              <a:chExt cx="10515600" cy="916612"/>
            </a:xfrm>
          </p:grpSpPr>
          <p:sp>
            <p:nvSpPr>
              <p:cNvPr id="124" name="Google Shape;124;p3"/>
              <p:cNvSpPr/>
              <p:nvPr/>
            </p:nvSpPr>
            <p:spPr>
              <a:xfrm>
                <a:off x="838200" y="3073839"/>
                <a:ext cx="10515600" cy="916611"/>
              </a:xfrm>
              <a:prstGeom prst="roundRect">
                <a:avLst>
                  <a:gd fmla="val 10000" name="adj"/>
                </a:avLst>
              </a:prstGeom>
              <a:solidFill>
                <a:srgbClr val="CF572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3"/>
              <p:cNvSpPr/>
              <p:nvPr/>
            </p:nvSpPr>
            <p:spPr>
              <a:xfrm>
                <a:off x="1115475" y="3280077"/>
                <a:ext cx="504136" cy="504136"/>
              </a:xfrm>
              <a:prstGeom prst="rect">
                <a:avLst/>
              </a:prstGeom>
              <a:blipFill rotWithShape="1">
                <a:blip r:embed="rId4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  <a:effectLst>
                <a:outerShdw blurRad="57150" rotWithShape="0" algn="ctr" dir="5400000" dist="19050">
                  <a:srgbClr val="000000">
                    <a:alpha val="62745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3"/>
              <p:cNvSpPr/>
              <p:nvPr/>
            </p:nvSpPr>
            <p:spPr>
              <a:xfrm>
                <a:off x="1896886" y="3073839"/>
                <a:ext cx="9456913" cy="9166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3"/>
              <p:cNvSpPr txBox="1"/>
              <p:nvPr/>
            </p:nvSpPr>
            <p:spPr>
              <a:xfrm>
                <a:off x="1756724" y="3073838"/>
                <a:ext cx="9456913" cy="9166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7000" lIns="97000" spcFirstLastPara="1" rIns="97000" wrap="square" tIns="970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500"/>
                  <a:buFont typeface="Arial"/>
                  <a:buNone/>
                </a:pPr>
                <a:r>
                  <a:rPr b="1" i="0" lang="pt-BR" sz="15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Propósito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525"/>
                  </a:spcBef>
                  <a:spcAft>
                    <a:spcPts val="0"/>
                  </a:spcAft>
                  <a:buNone/>
                </a:pPr>
                <a:r>
                  <a:rPr b="0" i="0" lang="pt-BR" sz="15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Centralizar o trabalho pedagógico e a representação do cotidiano das crianças em uma ferramenta.</a:t>
                </a:r>
                <a:endParaRPr b="0" i="0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descr="Interface gráfica do usuário, Aplicativo&#10;&#10;O conteúdo gerado por IA pode estar incorreto." id="128" name="Google Shape;128;p3"/>
          <p:cNvPicPr preferRelativeResize="0"/>
          <p:nvPr/>
        </p:nvPicPr>
        <p:blipFill rotWithShape="1">
          <a:blip r:embed="rId5">
            <a:alphaModFix/>
          </a:blip>
          <a:srcRect b="0" l="0" r="0" t="15063"/>
          <a:stretch/>
        </p:blipFill>
        <p:spPr>
          <a:xfrm>
            <a:off x="1395022" y="3490182"/>
            <a:ext cx="9398908" cy="2917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senho de um círculo&#10;&#10;O conteúdo gerado por IA pode estar incorreto." id="129" name="Google Shape;129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28980" y="3987813"/>
            <a:ext cx="4330991" cy="682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3400">
        <p14:reveal dir="l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6D8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/>
          <p:nvPr>
            <p:ph type="title"/>
          </p:nvPr>
        </p:nvSpPr>
        <p:spPr>
          <a:xfrm>
            <a:off x="838200" y="557189"/>
            <a:ext cx="3374136" cy="5567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C5C"/>
              </a:buClr>
              <a:buSzPts val="3600"/>
              <a:buFont typeface="Arial"/>
              <a:buNone/>
            </a:pPr>
            <a:r>
              <a:rPr b="1" lang="pt-BR" sz="3600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rPr>
              <a:t>Experiência do Usuário</a:t>
            </a:r>
            <a:endParaRPr/>
          </a:p>
        </p:txBody>
      </p:sp>
      <p:grpSp>
        <p:nvGrpSpPr>
          <p:cNvPr id="136" name="Google Shape;136;p4"/>
          <p:cNvGrpSpPr/>
          <p:nvPr/>
        </p:nvGrpSpPr>
        <p:grpSpPr>
          <a:xfrm>
            <a:off x="5090159" y="1516740"/>
            <a:ext cx="6263641" cy="3372029"/>
            <a:chOff x="5090159" y="1516740"/>
            <a:chExt cx="6263641" cy="3372029"/>
          </a:xfrm>
        </p:grpSpPr>
        <p:sp>
          <p:nvSpPr>
            <p:cNvPr id="137" name="Google Shape;137;p4"/>
            <p:cNvSpPr/>
            <p:nvPr/>
          </p:nvSpPr>
          <p:spPr>
            <a:xfrm>
              <a:off x="5090160" y="1516740"/>
              <a:ext cx="6263640" cy="849893"/>
            </a:xfrm>
            <a:prstGeom prst="roundRect">
              <a:avLst>
                <a:gd fmla="val 10000" name="adj"/>
              </a:avLst>
            </a:prstGeom>
            <a:solidFill>
              <a:srgbClr val="F6C5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5347252" y="1707966"/>
              <a:ext cx="467441" cy="467441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6071787" y="1516740"/>
              <a:ext cx="5282012" cy="8498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6071787" y="1516740"/>
              <a:ext cx="5282012" cy="8498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925" lIns="89925" spcFirstLastPara="1" rIns="89925" wrap="square" tIns="89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b="0" i="0" lang="pt-BR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Interface Otimizadas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5090160" y="2579107"/>
              <a:ext cx="6263640" cy="849893"/>
            </a:xfrm>
            <a:prstGeom prst="roundRect">
              <a:avLst>
                <a:gd fmla="val 10000" name="adj"/>
              </a:avLst>
            </a:prstGeom>
            <a:solidFill>
              <a:srgbClr val="F2A98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5347252" y="2770333"/>
              <a:ext cx="467441" cy="46744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6071787" y="2579107"/>
              <a:ext cx="5282012" cy="8498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4"/>
            <p:cNvSpPr txBox="1"/>
            <p:nvPr/>
          </p:nvSpPr>
          <p:spPr>
            <a:xfrm>
              <a:off x="6071787" y="2579107"/>
              <a:ext cx="5282012" cy="8498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9925" lIns="89925" spcFirstLastPara="1" rIns="89925" wrap="square" tIns="899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Arial"/>
                <a:buNone/>
              </a:pPr>
              <a:r>
                <a:rPr b="0" i="0" lang="pt-BR" sz="19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Múltiplos acessos simultâneos</a:t>
              </a:r>
              <a:endPara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5" name="Google Shape;145;p4"/>
            <p:cNvGrpSpPr/>
            <p:nvPr/>
          </p:nvGrpSpPr>
          <p:grpSpPr>
            <a:xfrm>
              <a:off x="5090159" y="3641474"/>
              <a:ext cx="6263640" cy="1247295"/>
              <a:chOff x="5093208" y="4873822"/>
              <a:chExt cx="6263640" cy="1247295"/>
            </a:xfrm>
          </p:grpSpPr>
          <p:sp>
            <p:nvSpPr>
              <p:cNvPr id="146" name="Google Shape;146;p4"/>
              <p:cNvSpPr/>
              <p:nvPr/>
            </p:nvSpPr>
            <p:spPr>
              <a:xfrm>
                <a:off x="5093208" y="4873822"/>
                <a:ext cx="6263640" cy="1247295"/>
              </a:xfrm>
              <a:prstGeom prst="roundRect">
                <a:avLst>
                  <a:gd fmla="val 10000" name="adj"/>
                </a:avLst>
              </a:prstGeom>
              <a:solidFill>
                <a:srgbClr val="BF4F1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5350299" y="5263748"/>
                <a:ext cx="467441" cy="467441"/>
              </a:xfrm>
              <a:prstGeom prst="rect">
                <a:avLst/>
              </a:prstGeom>
              <a:blipFill rotWithShape="1">
                <a:blip r:embed="rId5">
                  <a:alphaModFix/>
                </a:blip>
                <a:stretch>
                  <a:fillRect b="0" l="0" r="0" t="0"/>
                </a:stretch>
              </a:blip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4"/>
              <p:cNvSpPr/>
              <p:nvPr/>
            </p:nvSpPr>
            <p:spPr>
              <a:xfrm>
                <a:off x="6074835" y="5072523"/>
                <a:ext cx="5282012" cy="8498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4"/>
              <p:cNvSpPr txBox="1"/>
              <p:nvPr/>
            </p:nvSpPr>
            <p:spPr>
              <a:xfrm>
                <a:off x="6074835" y="5072523"/>
                <a:ext cx="5282012" cy="8498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89925" lIns="89925" spcFirstLastPara="1" rIns="89925" wrap="square" tIns="899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900"/>
                  <a:buFont typeface="Arial"/>
                  <a:buNone/>
                </a:pPr>
                <a:r>
                  <a:rPr b="0" i="0" lang="pt-BR" sz="19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Simplicidade Operacional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"/>
          <p:cNvSpPr txBox="1"/>
          <p:nvPr>
            <p:ph type="title"/>
          </p:nvPr>
        </p:nvSpPr>
        <p:spPr>
          <a:xfrm>
            <a:off x="841248" y="334644"/>
            <a:ext cx="10509504" cy="10769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C5C"/>
              </a:buClr>
              <a:buSzPts val="4000"/>
              <a:buFont typeface="Arial"/>
              <a:buNone/>
            </a:pPr>
            <a:r>
              <a:rPr b="1" lang="pt-BR" sz="4000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rPr>
              <a:t>Navegabilidade</a:t>
            </a:r>
            <a:endParaRPr/>
          </a:p>
        </p:txBody>
      </p:sp>
      <p:grpSp>
        <p:nvGrpSpPr>
          <p:cNvPr id="156" name="Google Shape;156;p5"/>
          <p:cNvGrpSpPr/>
          <p:nvPr/>
        </p:nvGrpSpPr>
        <p:grpSpPr>
          <a:xfrm>
            <a:off x="841248" y="1667590"/>
            <a:ext cx="10506456" cy="1076914"/>
            <a:chOff x="838200" y="1754081"/>
            <a:chExt cx="10506456" cy="868140"/>
          </a:xfrm>
        </p:grpSpPr>
        <p:sp>
          <p:nvSpPr>
            <p:cNvPr id="157" name="Google Shape;157;p5"/>
            <p:cNvSpPr/>
            <p:nvPr/>
          </p:nvSpPr>
          <p:spPr>
            <a:xfrm>
              <a:off x="838200" y="1754081"/>
              <a:ext cx="10506456" cy="868140"/>
            </a:xfrm>
            <a:prstGeom prst="roundRect">
              <a:avLst>
                <a:gd fmla="val 16667" name="adj"/>
              </a:avLst>
            </a:prstGeom>
            <a:solidFill>
              <a:srgbClr val="CF5721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5"/>
            <p:cNvSpPr txBox="1"/>
            <p:nvPr/>
          </p:nvSpPr>
          <p:spPr>
            <a:xfrm>
              <a:off x="880579" y="1754081"/>
              <a:ext cx="10421698" cy="8257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1" i="0" lang="pt-BR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Busca Inteligente e Organização</a:t>
              </a:r>
              <a:endParaRPr b="1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525"/>
                </a:spcBef>
                <a:spcAft>
                  <a:spcPts val="0"/>
                </a:spcAft>
                <a:buNone/>
              </a:pPr>
              <a:r>
                <a:rPr b="0" i="0" lang="pt-BR" sz="1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Localização instantânea de qualquer registro através de filtros combinados por tipo de instrumento pedagógico e tags customizáveis.</a:t>
              </a:r>
              <a:endPara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Interface gráfica do usuário, Texto, Aplicativo, chat ou mensagem de texto&#10;&#10;O conteúdo gerado por IA pode estar incorreto." id="159" name="Google Shape;1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3955" y="3126715"/>
            <a:ext cx="2953162" cy="2391109"/>
          </a:xfrm>
          <a:prstGeom prst="roundRect">
            <a:avLst>
              <a:gd fmla="val 8594" name="adj"/>
            </a:avLst>
          </a:prstGeom>
          <a:solidFill>
            <a:srgbClr val="ECECEC"/>
          </a:solidFill>
          <a:ln cap="flat" cmpd="sng" w="38100">
            <a:solidFill>
              <a:srgbClr val="F2A982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5000" endA="0" endPos="28000" kx="0" rotWithShape="0" algn="bl" stA="38000" stPos="0" sy="-100000" ky="0"/>
          </a:effectLst>
        </p:spPr>
      </p:pic>
      <p:pic>
        <p:nvPicPr>
          <p:cNvPr descr="Interface gráfica do usuário, Aplicativo&#10;&#10;O conteúdo gerado por IA pode estar incorreto." id="160" name="Google Shape;160;p5"/>
          <p:cNvPicPr preferRelativeResize="0"/>
          <p:nvPr/>
        </p:nvPicPr>
        <p:blipFill rotWithShape="1">
          <a:blip r:embed="rId4">
            <a:alphaModFix/>
          </a:blip>
          <a:srcRect b="0" l="0" r="0" t="3689"/>
          <a:stretch/>
        </p:blipFill>
        <p:spPr>
          <a:xfrm>
            <a:off x="7554499" y="3079085"/>
            <a:ext cx="2276793" cy="2486371"/>
          </a:xfrm>
          <a:prstGeom prst="roundRect">
            <a:avLst>
              <a:gd fmla="val 8594" name="adj"/>
            </a:avLst>
          </a:prstGeom>
          <a:solidFill>
            <a:srgbClr val="BF4F14"/>
          </a:solidFill>
          <a:ln cap="flat" cmpd="sng" w="28575">
            <a:solidFill>
              <a:srgbClr val="F2A982"/>
            </a:solidFill>
            <a:prstDash val="solid"/>
            <a:round/>
            <a:headEnd len="sm" w="sm" type="none"/>
            <a:tailEnd len="sm" w="sm" type="none"/>
          </a:ln>
          <a:effectLst>
            <a:reflection blurRad="0" dir="5400000" dist="5000" endA="0" endPos="28000" kx="0" rotWithShape="0" algn="bl" stA="38000" stPos="0" sy="-100000" ky="0"/>
          </a:effectLst>
        </p:spPr>
      </p:pic>
      <p:sp>
        <p:nvSpPr>
          <p:cNvPr id="161" name="Google Shape;161;p5"/>
          <p:cNvSpPr/>
          <p:nvPr/>
        </p:nvSpPr>
        <p:spPr>
          <a:xfrm>
            <a:off x="5448270" y="4154528"/>
            <a:ext cx="1694688" cy="33548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0828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g3c425a62f68_0_0" title="Plataforma Obeci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52400"/>
            <a:ext cx="12192001" cy="609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4373e66a4_0_0"/>
          <p:cNvSpPr txBox="1"/>
          <p:nvPr>
            <p:ph type="title"/>
          </p:nvPr>
        </p:nvSpPr>
        <p:spPr>
          <a:xfrm>
            <a:off x="841198" y="2890494"/>
            <a:ext cx="10509600" cy="10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C5C"/>
              </a:buClr>
              <a:buSzPts val="4000"/>
              <a:buFont typeface="Arial"/>
              <a:buNone/>
            </a:pPr>
            <a:r>
              <a:rPr b="1" lang="pt-BR" sz="4000">
                <a:solidFill>
                  <a:srgbClr val="1C3C5C"/>
                </a:solidFill>
                <a:latin typeface="Arial"/>
                <a:ea typeface="Arial"/>
                <a:cs typeface="Arial"/>
                <a:sym typeface="Arial"/>
              </a:rPr>
              <a:t>Muito Obrigado!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2026-02-02T15:50:21Z</dcterms:created>
  <dc:creator>Rosana Santos Meyer</dc:creator>
</cp:coreProperties>
</file>